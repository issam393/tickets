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1c6f2f5fa4b2d" /><Relationship Type="http://schemas.openxmlformats.org/officeDocument/2006/relationships/extended-properties" Target="/docProps/app.xml" Id="R57395fb2fdec49ee" /><Relationship Type="http://schemas.openxmlformats.org/officeDocument/2006/relationships/officeDocument" Target="/ppt/presentation.xml" Id="R3b3cd6f239e74a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7998e7f864c7f"/>
  </p:sldMasterIdLst>
  <p:notesMasterIdLst>
    <p:notesMasterId xmlns:r="http://schemas.openxmlformats.org/officeDocument/2006/relationships" r:id="R6f858440c7ff42b0"/>
  </p:notesMasterIdLst>
  <p:sldIdLst>
    <p:sldId xmlns:r="http://schemas.openxmlformats.org/officeDocument/2006/relationships" id="256" r:id="Rf295e0c909614e7a"/>
    <p:sldId xmlns:r="http://schemas.openxmlformats.org/officeDocument/2006/relationships" id="257" r:id="R0767654f5ca14e78"/>
    <p:sldId xmlns:r="http://schemas.openxmlformats.org/officeDocument/2006/relationships" id="258" r:id="R6cdf37c3fec24320"/>
    <p:sldId xmlns:r="http://schemas.openxmlformats.org/officeDocument/2006/relationships" id="259" r:id="R077c0b6c763e4a8d"/>
    <p:sldId xmlns:r="http://schemas.openxmlformats.org/officeDocument/2006/relationships" id="260" r:id="R41eb7a12c4684627"/>
    <p:sldId xmlns:r="http://schemas.openxmlformats.org/officeDocument/2006/relationships" id="261" r:id="R905f3345edfd4a58"/>
    <p:sldId xmlns:r="http://schemas.openxmlformats.org/officeDocument/2006/relationships" id="262" r:id="Rc9f7c7679de2410e"/>
    <p:sldId xmlns:r="http://schemas.openxmlformats.org/officeDocument/2006/relationships" id="263" r:id="Rb9e6c5f45fcd4ef6"/>
    <p:sldId xmlns:r="http://schemas.openxmlformats.org/officeDocument/2006/relationships" id="264" r:id="R2e6559a9797b4ca7"/>
    <p:sldId xmlns:r="http://schemas.openxmlformats.org/officeDocument/2006/relationships" id="265" r:id="R89eb23c1d0884eb6"/>
    <p:sldId xmlns:r="http://schemas.openxmlformats.org/officeDocument/2006/relationships" id="266" r:id="R456e24ecd372488d"/>
    <p:sldId xmlns:r="http://schemas.openxmlformats.org/officeDocument/2006/relationships" id="267" r:id="R727e05a1a9b04361"/>
    <p:sldId xmlns:r="http://schemas.openxmlformats.org/officeDocument/2006/relationships" id="268" r:id="R9675ee5a51e54f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7998e7f864c7f" /><Relationship Type="http://schemas.openxmlformats.org/officeDocument/2006/relationships/theme" Target="/ppt/theme/theme1.xml" Id="Redc9f784925247ad" /><Relationship Type="http://schemas.openxmlformats.org/officeDocument/2006/relationships/notesMaster" Target="/ppt/notesMasters/notesMaster1.xml" Id="R6f858440c7ff42b0" /><Relationship Type="http://schemas.openxmlformats.org/officeDocument/2006/relationships/presProps" Target="/ppt/presProps.xml" Id="R31e5e73b84e64cc2" /><Relationship Type="http://schemas.openxmlformats.org/officeDocument/2006/relationships/viewProps" Target="/ppt/viewProps.xml" Id="Rfa59dab1ceb645a0" /><Relationship Type="http://schemas.openxmlformats.org/officeDocument/2006/relationships/tableStyles" Target="/ppt/tableStyles.xml" Id="Rcf057175de774d24" /><Relationship Type="http://schemas.openxmlformats.org/officeDocument/2006/relationships/slide" Target="/ppt/slides/slide1.xml" Id="Rf295e0c909614e7a" /><Relationship Type="http://schemas.openxmlformats.org/officeDocument/2006/relationships/slide" Target="/ppt/slides/slide2.xml" Id="R0767654f5ca14e78" /><Relationship Type="http://schemas.openxmlformats.org/officeDocument/2006/relationships/slide" Target="/ppt/slides/slide3.xml" Id="R6cdf37c3fec24320" /><Relationship Type="http://schemas.openxmlformats.org/officeDocument/2006/relationships/slide" Target="/ppt/slides/slide4.xml" Id="R077c0b6c763e4a8d" /><Relationship Type="http://schemas.openxmlformats.org/officeDocument/2006/relationships/slide" Target="/ppt/slides/slide5.xml" Id="R41eb7a12c4684627" /><Relationship Type="http://schemas.openxmlformats.org/officeDocument/2006/relationships/slide" Target="/ppt/slides/slide6.xml" Id="R905f3345edfd4a58" /><Relationship Type="http://schemas.openxmlformats.org/officeDocument/2006/relationships/slide" Target="/ppt/slides/slide7.xml" Id="Rc9f7c7679de2410e" /><Relationship Type="http://schemas.openxmlformats.org/officeDocument/2006/relationships/slide" Target="/ppt/slides/slide8.xml" Id="Rb9e6c5f45fcd4ef6" /><Relationship Type="http://schemas.openxmlformats.org/officeDocument/2006/relationships/slide" Target="/ppt/slides/slide9.xml" Id="R2e6559a9797b4ca7" /><Relationship Type="http://schemas.openxmlformats.org/officeDocument/2006/relationships/slide" Target="/ppt/slides/slide10.xml" Id="R89eb23c1d0884eb6" /><Relationship Type="http://schemas.openxmlformats.org/officeDocument/2006/relationships/slide" Target="/ppt/slides/slide11.xml" Id="R456e24ecd372488d" /><Relationship Type="http://schemas.openxmlformats.org/officeDocument/2006/relationships/slide" Target="/ppt/slides/slide12.xml" Id="R727e05a1a9b04361" /><Relationship Type="http://schemas.openxmlformats.org/officeDocument/2006/relationships/slide" Target="/ppt/slides/slide13.xml" Id="R9675ee5a51e54f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33767e4759b44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58af62c994ba5" /><Relationship Type="http://schemas.openxmlformats.org/officeDocument/2006/relationships/notesMaster" Target="/ppt/notesMasters/notesMaster1.xml" Id="R50af7badf8e7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ff7a441b934bdf" /><Relationship Type="http://schemas.openxmlformats.org/officeDocument/2006/relationships/notesMaster" Target="/ppt/notesMasters/notesMaster1.xml" Id="R3e8313dcf2fa41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e02fb53ec424e" /><Relationship Type="http://schemas.openxmlformats.org/officeDocument/2006/relationships/notesMaster" Target="/ppt/notesMasters/notesMaster1.xml" Id="R2afb3390bca941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b12b2175a741e8" /><Relationship Type="http://schemas.openxmlformats.org/officeDocument/2006/relationships/notesMaster" Target="/ppt/notesMasters/notesMaster1.xml" Id="Rcbe468e22231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e442ac078a4e96" /><Relationship Type="http://schemas.openxmlformats.org/officeDocument/2006/relationships/notesMaster" Target="/ppt/notesMasters/notesMaster1.xml" Id="R1a328a0c54194f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d48e6ba38430f" /><Relationship Type="http://schemas.openxmlformats.org/officeDocument/2006/relationships/notesMaster" Target="/ppt/notesMasters/notesMaster1.xml" Id="R207ece9a3cf347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9b056037374d68" /><Relationship Type="http://schemas.openxmlformats.org/officeDocument/2006/relationships/notesMaster" Target="/ppt/notesMasters/notesMaster1.xml" Id="R915d786e2f494a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8c6445ca0842b5" /><Relationship Type="http://schemas.openxmlformats.org/officeDocument/2006/relationships/notesMaster" Target="/ppt/notesMasters/notesMaster1.xml" Id="Rf34e01229fea40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3f98c68c9a4835" /><Relationship Type="http://schemas.openxmlformats.org/officeDocument/2006/relationships/notesMaster" Target="/ppt/notesMasters/notesMaster1.xml" Id="R82274244d3ed41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ca869460ec4b36" /><Relationship Type="http://schemas.openxmlformats.org/officeDocument/2006/relationships/notesMaster" Target="/ppt/notesMasters/notesMaster1.xml" Id="Rfdf0226642ff41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ab9207145e412f" /><Relationship Type="http://schemas.openxmlformats.org/officeDocument/2006/relationships/notesMaster" Target="/ppt/notesMasters/notesMaster1.xml" Id="Re770c46ed97f44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4ce1772c534c4e" /><Relationship Type="http://schemas.openxmlformats.org/officeDocument/2006/relationships/notesMaster" Target="/ppt/notesMasters/notesMaster1.xml" Id="R8d12436629fd4e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931f918bf648a2" /><Relationship Type="http://schemas.openxmlformats.org/officeDocument/2006/relationships/notesMaster" Target="/ppt/notesMasters/notesMaster1.xml" Id="R84e8ecc8197a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e7be213ff49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7719cb9da640ba" /><Relationship Type="http://schemas.openxmlformats.org/officeDocument/2006/relationships/slideLayout" Target="/ppt/slideLayouts/slideLayout2.xml" Id="R3a98de99d79041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8de99d79041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1a626da5204dd8" /><Relationship Type="http://schemas.openxmlformats.org/officeDocument/2006/relationships/image" Target="/ppt/media/image.jpeg" Id="Rc35776a4115b49ed" /><Relationship Type="http://schemas.openxmlformats.org/officeDocument/2006/relationships/notesSlide" Target="/ppt/notesSlides/notesSlide1.xml" Id="Rd103a016494b49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f750ea94f0404c" /><Relationship Type="http://schemas.openxmlformats.org/officeDocument/2006/relationships/notesSlide" Target="/ppt/notesSlides/notesSlide2.xml" Id="Rfae995db37a1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d711839fc4621" /><Relationship Type="http://schemas.openxmlformats.org/officeDocument/2006/relationships/notesSlide" Target="/ppt/notesSlides/notesSlide3.xml" Id="R257ea0f8b2f7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e9919cc834d50" /><Relationship Type="http://schemas.openxmlformats.org/officeDocument/2006/relationships/notesSlide" Target="/ppt/notesSlides/notesSlide4.xml" Id="Rbfcdc354aa2b40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e3a64597854011" /><Relationship Type="http://schemas.openxmlformats.org/officeDocument/2006/relationships/notesSlide" Target="/ppt/notesSlides/notesSlide5.xml" Id="R0788877aedf446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92d05b5b9e4f97" /><Relationship Type="http://schemas.openxmlformats.org/officeDocument/2006/relationships/notesSlide" Target="/ppt/notesSlides/notesSlide6.xml" Id="Re5fced5294c3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7e51bb9224de3" /><Relationship Type="http://schemas.openxmlformats.org/officeDocument/2006/relationships/notesSlide" Target="/ppt/notesSlides/notesSlide7.xml" Id="R525b9f68cf7a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f4ccfdc414fd7" /><Relationship Type="http://schemas.openxmlformats.org/officeDocument/2006/relationships/image" Target="/ppt/media/image.png" Id="R2ea579d3ca66413d" /><Relationship Type="http://schemas.openxmlformats.org/officeDocument/2006/relationships/notesSlide" Target="/ppt/notesSlides/notesSlide8.xml" Id="R4fe4a44afba146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0ea9dd69dc4960" /><Relationship Type="http://schemas.openxmlformats.org/officeDocument/2006/relationships/image" Target="/ppt/media/image2.jpeg" Id="Re7cedcf2ac2c43bc" /><Relationship Type="http://schemas.openxmlformats.org/officeDocument/2006/relationships/image" Target="/ppt/media/image3.jpeg" Id="R4985e30e23bf4731" /><Relationship Type="http://schemas.openxmlformats.org/officeDocument/2006/relationships/notesSlide" Target="/ppt/notesSlides/notesSlide9.xml" Id="Re1fd466d7a5f43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6cac8fbd24aa1" /><Relationship Type="http://schemas.openxmlformats.org/officeDocument/2006/relationships/image" Target="/ppt/media/image4.jpeg" Id="R57d516cc47184350" /><Relationship Type="http://schemas.openxmlformats.org/officeDocument/2006/relationships/notesSlide" Target="/ppt/notesSlides/notesSlide10.xml" Id="Rb4e3f0cf4bb245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b98f354124852" /><Relationship Type="http://schemas.openxmlformats.org/officeDocument/2006/relationships/notesSlide" Target="/ppt/notesSlides/notesSlide11.xml" Id="Rc2e53f2c8ed24c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564953595407b" /><Relationship Type="http://schemas.openxmlformats.org/officeDocument/2006/relationships/notesSlide" Target="/ppt/notesSlides/notesSlide12.xml" Id="R5ba90fed44a647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9966533eb4a34" /><Relationship Type="http://schemas.openxmlformats.org/officeDocument/2006/relationships/notesSlide" Target="/ppt/notesSlides/notesSlide13.xml" Id="R207a339fd95a4a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22498E-BF5B-4680-A854-456482E2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1DC9CE16-FD1A-4E03-BC57-B4E1F839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24655-9A9B-406B-A328-AA92CDE0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RÉPUBLIQUE ALGÉRIENNE DÉMOCRATIQUE ET POPULAIRE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5A69D-69AB-42BA-8155-C3480935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Université Saad Dahleb - Blida 1  |  Faculté des Sciences  |  Département d'Informatique</a:t>
            </a:r>
          </a:p>
        </p:txBody>
      </p:sp>
      <p:sp>
        <p:nvSpPr>
          <p:cNvPr id="5" name="pill">
            <a:extLst xmlns:a="http://schemas.openxmlformats.org/drawingml/2006/main">
              <a:ext uri="{FF2B5EF4-FFF2-40B4-BE49-F238E27FC236}">
                <a16:creationId xmlns:a16="http://schemas.microsoft.com/office/drawing/2014/main" id="{FD06BA7D-433A-4201-9CE9-09A9111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9DB38-0D6B-4515-B2EF-10553C01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MÉMOIRE DE FIN D'ÉTUDES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CDD8F-A4B4-450C-B1F7-3342F2F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594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Conception et réalisation</a:t>
            </a:r>
          </a:p>
          <a:p xmlns:a="http://schemas.openxmlformats.org/drawingml/2006/main">
            <a:pPr algn="l">
              <a:defRPr sz="300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d'une application web sécurisée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BAE2F-A31D-47CB-BECD-BCB70F1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42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4774E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B4774E"/>
                </a:solidFill>
                <a:latin typeface="Georgia"/>
                <a:ea typeface="Georgia"/>
                <a:cs typeface="Georgia"/>
              </a:rPr>
              <a:t>de gestion de la relation client et des tickets pour l'AGCE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769C7184-DB40-4D8D-929D-E36E280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CE2A3-CCE4-4721-99F6-AA93EF56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Réalisé par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1DD9D-29AC-428B-976A-8FD2751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Laceb Karim  ·  Ouladsmane Issam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0B2FC-F7CE-4AD9-B0C9-DC40C46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Encadré 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8F063-4E45-4B52-B2D0-68AA0F7B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Mme Arkam Meriem  ·  M. Lekhchine Sami (AGCE)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24075-50AB-43DA-8D3B-BF6488F2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Année universitaire 2025 / 2026</a:t>
            </a:r>
          </a:p>
        </p:txBody>
      </p:sp>
      <p:sp>
        <p:nvSpPr>
          <p:cNvPr id="15" name="photo-frame">
            <a:extLst xmlns:a="http://schemas.openxmlformats.org/drawingml/2006/main">
              <a:ext uri="{FF2B5EF4-FFF2-40B4-BE49-F238E27FC236}">
                <a16:creationId xmlns:a16="http://schemas.microsoft.com/office/drawing/2014/main" id="{CC4A7AF7-0A3F-4ABC-9733-1663E89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57225"/>
            <a:ext cx="41719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776a4115b49ed"/>
          <a:srcRect xmlns:a="http://schemas.openxmlformats.org/drawingml/2006/main" l="26526" t="0" r="265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723900"/>
            <a:ext cx="4038600" cy="495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C3EF6-F7CC-4715-8277-3598F23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29300"/>
            <a:ext cx="3714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Prototype AGCE CRM / Accès sécurisé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162FC8D8-B599-4F1A-875C-D25EFD1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36D08-476B-4BEF-B9A5-9BB0DD7B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D6790-6935-42AA-90CF-9A502D6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Source visuelle : prototype développé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89AA2-F435-419A-AD08-296ABAEE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27015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0E0156-0BF3-41CF-A492-D658B560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F31C874A-57B1-43C4-BE0F-C3E5E3E3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75B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FB14-B8B6-4B1A-8E22-7364E07D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B7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4B7AA"/>
                </a:solidFill>
                <a:latin typeface="Arial"/>
                <a:ea typeface="Arial"/>
                <a:cs typeface="Arial"/>
              </a:rPr>
              <a:t>00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55FCD72-5F26-449C-AA31-A7E2469E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98AE2-A127-4635-9088-6C29FC9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PLAN DE LA PRÉSENTATION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A289A-B14F-4387-9303-0FB5D0F8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858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Du besoin métier au prototype vérifiable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75E1173A-DF86-45AB-BA40-D3E37ADB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59993-6CB1-4A40-9192-071535B8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6E1C4-744F-4103-ACB2-15BA13E8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C85BF-3448-4252-8D74-CB5FAA05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Pourquoi la traçabilité compte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815525C2-E792-4CA9-9108-1DFCAA1D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AC17E-A1B2-40BB-BA54-A8B9736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ABEA6-E337-4A08-89C2-F99B8613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Contexte &amp; problématique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C3B9A-CBA4-4C50-8AEF-CF378DD5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Constat et question centrale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8E7199F-3817-4360-BF63-BB772AA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10FB6-1FC3-48B2-86F7-3113F653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CDAE8-61A2-4E84-B26E-4E320B24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Objectifs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874B0-BEF1-4117-BC24-A881906E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Ce que le système doit garantir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DF0A587-C589-4A01-80E5-D2D87C72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D9AB6-179B-4C56-92CF-4FD7DFF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886A7-B8FB-471B-BF35-0FBC043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Cadre théorique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19557-ED9E-4B14-80A4-D12ED826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CRM, ITSM et RBAC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67CE47EA-864E-4C89-9C21-1F839204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02FF1-ECB8-4E8D-9A9E-570710E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75C03-6FDC-41B5-9111-FD0322D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Solution proposée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82D51-F5A7-40C8-B857-4B21F92E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Architecture et parcours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4DCA7B6F-8C2D-46CA-A5D4-5C60ADB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CB4AE-28FF-4D05-9AF2-38D1C90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BC49C1-6F2E-4F7A-8413-B1CE2E0B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Résultats &amp;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D4FCFE-8EEC-41F2-8A27-3C444383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Preuves et limites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059CB367-EACE-4B94-BB45-EC200F8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E6B4BB-6178-408C-958C-828A293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1C784-B405-441F-99E1-F82B764E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Conclusion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01C585-0E7C-45F4-B0FC-552274B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Perspectives d'industrialisation</a:t>
            </a:r>
          </a:p>
        </p:txBody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EDD6BEA6-6731-42AA-AF55-E9AE5A8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42B156-2FEA-42DA-B12F-3856C51A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AAAB99-A385-48CC-997A-B8EEA05E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EB1A5"/>
                </a:solidFill>
                <a:latin typeface="Arial"/>
                <a:ea typeface="Arial"/>
                <a:cs typeface="Arial"/>
              </a:rPr>
              <a:t>Structure alignée sur le guide de soutenance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9CBB8-8FC1-47BF-A9B0-95AEBD98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0116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13FDAAF-03A6-4747-9A19-C02E82C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A0AE12AD-3D91-468B-A8D3-08F363D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FAC40-2F2C-453F-AEB4-063030B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A995B9A-3360-449D-9AFB-7E07B4C5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FE360-8068-4C94-A2FA-73DE6AA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3257-87EA-4098-B95B-783EE77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Dans la confiance numérique,</a:t>
            </a:r>
          </a:p>
          <a:p xmlns:a="http://schemas.openxmlformats.org/drawingml/2006/main">
            <a:pPr algn="l">
              <a:defRPr sz="300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une demande mal tracée devient un risque.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56CE6-5388-43A8-B60F-F6212484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L'AGCE accompagne des services où l'identité, la signature et l'autorisation exigent une prise en charge documentée.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42BCABE6-B444-444D-A4D6-4D288100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333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D445C-E801-4CDF-B327-3A30723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354A4-21D0-4FEB-9A80-3659497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38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DEMANDE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BEF8A-20CC-4C62-B934-6B58981E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Un besoin client ou incident apparaît.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B943A9EA-5C32-4467-BEFA-1F2E4FE3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14825"/>
            <a:ext cx="314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FC737E91-B095-4B19-916C-35664849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3333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7E40D-34BE-4276-81BE-A40032C4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00475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D9ED2-035D-4C3F-8589-F733102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38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TRAITEMENT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2C046-714B-4E76-B116-F6BD3096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672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Une équipe qualifiée agit selon son rôle.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D316BC8-E0A0-4EA3-B97A-414B3F8E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14825"/>
            <a:ext cx="314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741C48CF-1917-4028-85F8-41CF934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3333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AD30E-B3B8-4024-83D3-74DE7FB6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00475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831CE-712C-4FD1-A7D4-A2F695DA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38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PREUVE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60F49-340A-43A0-9A23-838B304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Historique, échanges et statut restent consultables.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B1E1B-11B4-4862-B335-FD4F7DD1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Question directrice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19D26-A89D-4BBE-94B0-871AF71E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48300"/>
            <a:ext cx="843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Comment centraliser, sécuriser et piloter le traitement des demandes liées aux services AGCE ?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12BD57D7-452D-4DD1-B3D4-328A78D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E21A4-8C85-4D7B-A50C-DD795C97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2D365-3BCC-4EB9-92D2-5AA7CBF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Cadre : mémoire AGCE CRM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C4A14-C4AF-4874-9F1F-5AE9DD7A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2473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335C60A-2782-4E61-8C1D-8847BB11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7A1B0B03-40C5-48A0-B488-2C7E05E3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00CF7-1FEB-4328-A16C-92F4A3B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CEEE02B-AB6E-4BE6-8603-97D6E26C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14042-A12B-4D99-8F66-F6E4BCD2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CONTEXTE ET PROBLÉMATIQUE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2DB6D-F96B-4C55-8B20-E5904B81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Passer d'échanges dispersés à un dossier suivi de bout en bout</a:t>
            </a:r>
          </a:p>
        </p:txBody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AE1C7966-3907-4042-9579-54F3540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72758-38C6-40B8-8C57-0FD9D4C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CONSTAT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9D112851-6B54-474B-AAE4-9139AD7F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43EC5-024B-49AD-96DC-A8A34E21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CIBLE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AE279E94-9A95-4B0D-BB7F-79845E97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50101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1EF8EDC0-6455-4D2E-B2D1-C468B5EE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50101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02597-9A23-49E2-9712-FF3DB29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17640-5300-4D83-8871-0D76F06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Demandes reçues par plusieurs canaux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A1A78-9FAB-42C2-86B6-265BB2F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186BD-278E-4619-9232-2DD00597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1825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Affectation difficile à suivre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02BF2-05F2-45EF-A1E9-BACE8E16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6385C-9F24-4B46-92E4-3E495FF0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Historique fragmenté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36643-A753-433F-900E-23131EC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01813-BF9F-4390-BBAD-B62B3EAB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Vision managériale limitée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52BFA-B871-49B7-AE35-65858F70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38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2BF95-C8FD-47A3-B92E-C7C89A1E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Ticket unique rattaché au contact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2AFDF-6101-4D34-BE3B-02309B0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84A1B-63A3-43F5-86B3-3F86DC38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Affectation IT / PKI contrôlée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EF103-40AF-4ACE-A3B6-08642FDA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86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BBC1D-3908-49DC-B69F-BDE9B385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Conversation et réunions historisées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C068D7-6C8D-4A5E-B6D1-D686EE18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353263-A404-4E9F-8EE0-0C83A20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957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Tableaux de bord par rôle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B6CF2B-D927-4CEC-900D-AE76CA0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ENJEU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69BFA-2CE8-4D8C-8708-CBFE5588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24500"/>
            <a:ext cx="8896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Une relation client fiable suppose un contrôle d'accès et une preuve de traitement.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F4E8AD3D-2D3D-44CE-8F32-80A774A4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0A117-0D95-4EE2-82FF-22995C7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16B1D6-D2DF-4AA4-B36C-9C37BBD0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Synthèse reformulée du besoin étudié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6AFA9-4762-481E-A7BC-39350CF2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84755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667EC6B-3FD9-42A2-9216-C4B9B2C4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C64892B6-1D22-474E-B11B-253A5AB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ED57-4979-4CEC-89AF-8268058B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2831E0A-0A13-4041-9EC2-FE22ED19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3E56E-BD75-4C0D-8CB6-F47C8B2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OBJECTIFS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0F9EE-81C9-4330-9165-66E7155C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42975"/>
            <a:ext cx="952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Cinq objectifs pour rendre chaque demande pilotable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B1464D8D-EEEF-4C91-90A4-0D1FAB8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257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5F90A-C2E8-4AAE-9A57-B21B44F8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80227-E1F9-49BE-9275-53CD2A1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CENTRALISER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2F3BD-F607-4013-9955-E840CC2D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Contacts, organisations et tickets dans un même espace.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90E4DE80-E52C-4E92-A528-8E69FC7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257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577EB-9EE9-48CB-86A0-3B636DC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62225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B918B-348D-40B8-848D-A3D938C4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193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QUALIFIER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F5448-4D4A-4CE4-B742-96F7FD7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5752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Type d'incident, niveau et priorité explicités.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6CF897D2-6D0E-4BAC-A4ED-5692B5ED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257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1EE32-1F22-488B-91DD-64AD9CD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62225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98C3B-EBC5-480F-B3E1-C4FC657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193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AFFECTER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C0C47-90B6-496B-B248-38A1280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57525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Orientation vers SD, IT ou PKI selon le besoin.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DC42E872-0AF7-433F-9332-20895B00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38625"/>
            <a:ext cx="3257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93507-080B-43B1-A6D9-475CDEE0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96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24A8C-3373-479C-9EA0-3EAA95D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SÉCURISER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E2C00-F85A-4A41-98E2-7C6EAA87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1490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Authentification et droits dépendants du rôle.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E26B1F16-95F6-4F7B-80E4-DC8325EA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38625"/>
            <a:ext cx="3257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A2697-1FA7-4883-9CA1-74D83DFB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AE5BB-D77E-452C-AFA2-2EB2C22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SUPERVISER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DA0E8-C743-4357-BDB0-B670BE8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Indicateurs, historique et décisions traçables.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079B1E3B-9619-4A94-8EC0-DE57A037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E3145-BF74-46CF-B459-C155C6A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35D77-6903-4DE5-829C-DA00223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Objectifs fonctionnels et de sécurité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44283-F3AC-4B6F-A013-2105DDB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1832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B8D732C-0117-42F6-9A2A-8CCC1AFC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3D81C0AE-FAF6-488D-A38E-4C989CD2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75B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C6E15-0165-4C0D-8977-D43E16D9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B7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4B7AA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B1BF4BB-D236-42A8-A3F8-E1BB1713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8DEED-494E-4239-925C-0884320B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CADRE THÉORIQUE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F5E7B-E3CA-4356-8A56-14250333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00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CRM, ITSM et RBAC : trois appuis pour une même solution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8DF32EA0-00BD-4A03-9033-4526A3B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3352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8" name="pill">
            <a:extLst xmlns:a="http://schemas.openxmlformats.org/drawingml/2006/main">
              <a:ext uri="{FF2B5EF4-FFF2-40B4-BE49-F238E27FC236}">
                <a16:creationId xmlns:a16="http://schemas.microsoft.com/office/drawing/2014/main" id="{CDC9F0D1-A8BA-4179-9228-EB330734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314EA-D6FB-42D5-B614-095086CC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2AC26-F99E-453F-AFA8-90089056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Relation durable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BE9F3-314F-4204-9D12-9853931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1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E1D8"/>
                </a:solidFill>
                <a:latin typeface="Arial"/>
                <a:ea typeface="Arial"/>
                <a:cs typeface="Arial"/>
              </a:rPr>
              <a:t>Structurer les interactions et la connaissance client.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01393-1DAE-4C30-8F8E-7EA3D830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2819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Payne &amp; Frow, 2005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04A0E7F8-E2F5-4D0D-817E-3484F31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3352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14" name="pill">
            <a:extLst xmlns:a="http://schemas.openxmlformats.org/drawingml/2006/main">
              <a:ext uri="{FF2B5EF4-FFF2-40B4-BE49-F238E27FC236}">
                <a16:creationId xmlns:a16="http://schemas.microsoft.com/office/drawing/2014/main" id="{818F10DF-3307-48AE-A16D-1D3E58D2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4797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6805D-7DB1-48A1-A5FA-8726BDE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ITSM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FFD8E-3187-4B9A-B21D-9C08DA5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432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Traitement maîtrisé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AC797-186F-4A38-ABE8-73F301C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766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1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E1D8"/>
                </a:solidFill>
                <a:latin typeface="Arial"/>
                <a:ea typeface="Arial"/>
                <a:cs typeface="Arial"/>
              </a:rPr>
              <a:t>Qualifier, affecter, suivre et résoudre une demande.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AD256-5957-4ED6-876C-88D9017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33925"/>
            <a:ext cx="2819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ITIL 4, 2019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6A6AA882-7FC7-4400-8E34-48CBD83D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3352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20" name="pill">
            <a:extLst xmlns:a="http://schemas.openxmlformats.org/drawingml/2006/main">
              <a:ext uri="{FF2B5EF4-FFF2-40B4-BE49-F238E27FC236}">
                <a16:creationId xmlns:a16="http://schemas.microsoft.com/office/drawing/2014/main" id="{E4976C27-AA64-420D-AF00-7DD148A9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4797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2CFC3-442B-4C74-9985-A09D09D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RBAC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904F0-6895-4DE7-9097-FD5FF8C9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432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Accès légitime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345E0-06A4-41ED-845F-97DABB72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1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E1D8"/>
                </a:solidFill>
                <a:latin typeface="Arial"/>
                <a:ea typeface="Arial"/>
                <a:cs typeface="Arial"/>
              </a:rPr>
              <a:t>Attribuer les actions selon les responsabilités.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21C00-4CA5-46EE-BCA0-59751CE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2819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Sandhu et al., 1996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6779B-6078-4968-9596-F8B32BC4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CE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CEC4"/>
                </a:solidFill>
                <a:latin typeface="Arial"/>
                <a:ea typeface="Arial"/>
                <a:cs typeface="Arial"/>
              </a:rPr>
              <a:t>Cadre réglementaire mobilisé : loi 15-04 (signature/certification électroniques) et loi 18-07 (données personnelles).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B5F2F3C3-E6FD-454F-86EC-D7DF791A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AA06C-F069-4171-BCDF-941F299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05441D-06F9-4487-9339-0638157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EB1A5"/>
                </a:solidFill>
                <a:latin typeface="Arial"/>
                <a:ea typeface="Arial"/>
                <a:cs typeface="Arial"/>
              </a:rPr>
              <a:t>Références sélectionnées du mémoire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B1A28-7786-46F6-A2E6-453BD66B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33205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EFD099D-7909-4145-8AEC-5046A6CD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01874B8A-7ACF-473A-87CA-5B7FC598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806FA-75CD-42D2-B2E2-9C8F43B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63E4322-AB81-4555-B932-E064C88D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53D7D-8DDE-40F2-B022-CBFA0288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POSITIONNEMENT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4E6C0-D00A-477B-A2A0-58A1C715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Le besoin AGCE combine des exigences rarement réunies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2F2A7B9-7AB0-4E8F-BFCC-97DFCF1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E6DEE-A4BA-4171-B866-E32AFC0C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876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CRITÈRE</a:t>
            </a:r>
          </a:p>
        </p:txBody>
      </p:sp>
      <p:sp>
        <p:nvSpPr>
          <p:cNvPr id="9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9B784DE-5B77-4568-91AA-D28A2EF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193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4B09C-4D36-4482-B878-6682DA2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00275"/>
            <a:ext cx="2162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OUTIL CRM GÉNÉRIQUE</a:t>
            </a:r>
          </a:p>
        </p:txBody>
      </p:sp>
      <p:sp>
        <p:nvSpPr>
          <p:cNvPr id="11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9A31AAC-1CF9-4266-AACE-4DB61667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19300"/>
            <a:ext cx="2457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7D16B-83FB-4C81-8CC3-D235F33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002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OUTIL TICKETS GÉNÉRIQUE</a:t>
            </a:r>
          </a:p>
        </p:txBody>
      </p:sp>
      <p:sp>
        <p:nvSpPr>
          <p:cNvPr id="13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0C72E58-0F4D-4745-92E1-481782A8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2638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2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653B7-6FBC-4C3D-A82B-4E18A2E6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00275"/>
            <a:ext cx="2371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AGCE CRM</a:t>
            </a:r>
          </a:p>
        </p:txBody>
      </p:sp>
      <p:sp>
        <p:nvSpPr>
          <p:cNvPr id="15" name="table-cell">
            <a:extLst xmlns:a="http://schemas.openxmlformats.org/drawingml/2006/main">
              <a:ext uri="{FF2B5EF4-FFF2-40B4-BE49-F238E27FC236}">
                <a16:creationId xmlns:a16="http://schemas.microsoft.com/office/drawing/2014/main" id="{A08A151E-DC4A-4C28-98FF-B7AD65F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6" name="table-cell">
            <a:extLst xmlns:a="http://schemas.openxmlformats.org/drawingml/2006/main">
              <a:ext uri="{FF2B5EF4-FFF2-40B4-BE49-F238E27FC236}">
                <a16:creationId xmlns:a16="http://schemas.microsoft.com/office/drawing/2014/main" id="{47048B0A-8F81-4A77-B008-BDD7F11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7" name="table-cell">
            <a:extLst xmlns:a="http://schemas.openxmlformats.org/drawingml/2006/main">
              <a:ext uri="{FF2B5EF4-FFF2-40B4-BE49-F238E27FC236}">
                <a16:creationId xmlns:a16="http://schemas.microsoft.com/office/drawing/2014/main" id="{EDCB8DA0-B12A-4EC4-99A5-DF73D8E9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3365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8" name="table-cell">
            <a:extLst xmlns:a="http://schemas.openxmlformats.org/drawingml/2006/main">
              <a:ext uri="{FF2B5EF4-FFF2-40B4-BE49-F238E27FC236}">
                <a16:creationId xmlns:a16="http://schemas.microsoft.com/office/drawing/2014/main" id="{028405FB-39EC-4502-89F3-D9D788E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33650"/>
            <a:ext cx="2638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7CFE8-B16D-4867-95BC-ADCCE87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Dossier 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ECAEA-1DB0-4F51-8B73-0F371C04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Fort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81557-9AD9-441C-AF0B-524FD589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Partiel</a:t>
            </a:r>
          </a:p>
        </p:txBody>
      </p:sp>
      <p:sp>
        <p:nvSpPr>
          <p:cNvPr id="22" name="pill">
            <a:extLst xmlns:a="http://schemas.openxmlformats.org/drawingml/2006/main">
              <a:ext uri="{FF2B5EF4-FFF2-40B4-BE49-F238E27FC236}">
                <a16:creationId xmlns:a16="http://schemas.microsoft.com/office/drawing/2014/main" id="{D91B86BB-0904-44C9-A225-4BF6B04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68D0E-79EB-406A-84D5-3F24318E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INTÉGRÉ</a:t>
            </a:r>
          </a:p>
        </p:txBody>
      </p:sp>
      <p:sp>
        <p:nvSpPr>
          <p:cNvPr id="24" name="table-cell">
            <a:extLst xmlns:a="http://schemas.openxmlformats.org/drawingml/2006/main">
              <a:ext uri="{FF2B5EF4-FFF2-40B4-BE49-F238E27FC236}">
                <a16:creationId xmlns:a16="http://schemas.microsoft.com/office/drawing/2014/main" id="{4EC4D033-F87C-4D53-A6C4-7D6AEE7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5" name="table-cell">
            <a:extLst xmlns:a="http://schemas.openxmlformats.org/drawingml/2006/main">
              <a:ext uri="{FF2B5EF4-FFF2-40B4-BE49-F238E27FC236}">
                <a16:creationId xmlns:a16="http://schemas.microsoft.com/office/drawing/2014/main" id="{5916CD2E-A73C-4323-8FAA-EC169558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6" name="table-cell">
            <a:extLst xmlns:a="http://schemas.openxmlformats.org/drawingml/2006/main">
              <a:ext uri="{FF2B5EF4-FFF2-40B4-BE49-F238E27FC236}">
                <a16:creationId xmlns:a16="http://schemas.microsoft.com/office/drawing/2014/main" id="{A1A07B64-18C6-4270-90D6-7A08D9F3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8610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7" name="table-cell">
            <a:extLst xmlns:a="http://schemas.openxmlformats.org/drawingml/2006/main">
              <a:ext uri="{FF2B5EF4-FFF2-40B4-BE49-F238E27FC236}">
                <a16:creationId xmlns:a16="http://schemas.microsoft.com/office/drawing/2014/main" id="{E50422D6-F26F-408D-82C8-A91F5BD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86100"/>
            <a:ext cx="2638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B1704-F8D5-45F1-B5FB-8C18309D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Ticket &amp; affectation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86C57-3DC7-423A-AC6E-BBC123FA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Partiel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BDBC0-8AE7-4100-9654-9A6534A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Fort</a:t>
            </a:r>
          </a:p>
        </p:txBody>
      </p:sp>
      <p:sp>
        <p:nvSpPr>
          <p:cNvPr id="31" name="pill">
            <a:extLst xmlns:a="http://schemas.openxmlformats.org/drawingml/2006/main">
              <a:ext uri="{FF2B5EF4-FFF2-40B4-BE49-F238E27FC236}">
                <a16:creationId xmlns:a16="http://schemas.microsoft.com/office/drawing/2014/main" id="{607CD541-EABB-40F5-9AC6-E6DC3735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E4A3A6-1292-42A9-9DC2-179A2CD4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9565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INTÉGRÉ</a:t>
            </a:r>
          </a:p>
        </p:txBody>
      </p:sp>
      <p:sp>
        <p:nvSpPr>
          <p:cNvPr id="33" name="table-cell">
            <a:extLst xmlns:a="http://schemas.openxmlformats.org/drawingml/2006/main">
              <a:ext uri="{FF2B5EF4-FFF2-40B4-BE49-F238E27FC236}">
                <a16:creationId xmlns:a16="http://schemas.microsoft.com/office/drawing/2014/main" id="{20D12CDA-A656-4864-80F7-723E8F8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4" name="table-cell">
            <a:extLst xmlns:a="http://schemas.openxmlformats.org/drawingml/2006/main">
              <a:ext uri="{FF2B5EF4-FFF2-40B4-BE49-F238E27FC236}">
                <a16:creationId xmlns:a16="http://schemas.microsoft.com/office/drawing/2014/main" id="{3242E474-784E-4F5D-87B0-64D8BB0F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5" name="table-cell">
            <a:extLst xmlns:a="http://schemas.openxmlformats.org/drawingml/2006/main">
              <a:ext uri="{FF2B5EF4-FFF2-40B4-BE49-F238E27FC236}">
                <a16:creationId xmlns:a16="http://schemas.microsoft.com/office/drawing/2014/main" id="{B8FA99B9-A527-4E59-93C8-CC6EDE0E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3855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6" name="table-cell">
            <a:extLst xmlns:a="http://schemas.openxmlformats.org/drawingml/2006/main">
              <a:ext uri="{FF2B5EF4-FFF2-40B4-BE49-F238E27FC236}">
                <a16:creationId xmlns:a16="http://schemas.microsoft.com/office/drawing/2014/main" id="{310AF7FF-1216-41FA-98CF-3405DC76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38550"/>
            <a:ext cx="2638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D93A15-77A9-4F51-B08A-7C440283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Rôles AGCE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382B70-0367-4E7E-8811-8E903FCB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À paramétrer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2556EB-3893-4171-A681-690F596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290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À paramétrer</a:t>
            </a:r>
          </a:p>
        </p:txBody>
      </p:sp>
      <p:sp>
        <p:nvSpPr>
          <p:cNvPr id="40" name="pill">
            <a:extLst xmlns:a="http://schemas.openxmlformats.org/drawingml/2006/main">
              <a:ext uri="{FF2B5EF4-FFF2-40B4-BE49-F238E27FC236}">
                <a16:creationId xmlns:a16="http://schemas.microsoft.com/office/drawing/2014/main" id="{46B4CEE4-C4AA-43CC-A180-AAE34FC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E0C595-31F6-4105-8E61-732D91CF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481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NATIF</a:t>
            </a:r>
          </a:p>
        </p:txBody>
      </p:sp>
      <p:sp>
        <p:nvSpPr>
          <p:cNvPr id="42" name="table-cell">
            <a:extLst xmlns:a="http://schemas.openxmlformats.org/drawingml/2006/main">
              <a:ext uri="{FF2B5EF4-FFF2-40B4-BE49-F238E27FC236}">
                <a16:creationId xmlns:a16="http://schemas.microsoft.com/office/drawing/2014/main" id="{8135701D-7186-4812-A700-CD58BB53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43" name="table-cell">
            <a:extLst xmlns:a="http://schemas.openxmlformats.org/drawingml/2006/main">
              <a:ext uri="{FF2B5EF4-FFF2-40B4-BE49-F238E27FC236}">
                <a16:creationId xmlns:a16="http://schemas.microsoft.com/office/drawing/2014/main" id="{2121D920-13B9-4954-84DF-61A14A21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44" name="table-cell">
            <a:extLst xmlns:a="http://schemas.openxmlformats.org/drawingml/2006/main">
              <a:ext uri="{FF2B5EF4-FFF2-40B4-BE49-F238E27FC236}">
                <a16:creationId xmlns:a16="http://schemas.microsoft.com/office/drawing/2014/main" id="{55B8DD20-919E-48BD-B179-5D2BF8C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9100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45" name="table-cell">
            <a:extLst xmlns:a="http://schemas.openxmlformats.org/drawingml/2006/main">
              <a:ext uri="{FF2B5EF4-FFF2-40B4-BE49-F238E27FC236}">
                <a16:creationId xmlns:a16="http://schemas.microsoft.com/office/drawing/2014/main" id="{4B949B14-491C-4935-9939-4B74681A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91000"/>
            <a:ext cx="2638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1C4927-7960-4E3C-B26D-8579352C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Réunions &amp; messages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A72F22-D1D8-4CD7-B28B-2185783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399F58-0B7F-4CEB-9429-E32262E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49" name="pill">
            <a:extLst xmlns:a="http://schemas.openxmlformats.org/drawingml/2006/main">
              <a:ext uri="{FF2B5EF4-FFF2-40B4-BE49-F238E27FC236}">
                <a16:creationId xmlns:a16="http://schemas.microsoft.com/office/drawing/2014/main" id="{E9DD8E0B-77EF-429D-A187-2414068B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34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69CE29-D35A-4CEF-B529-18B377A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LIÉS AU TICKET</a:t>
            </a:r>
          </a:p>
        </p:txBody>
      </p:sp>
      <p:sp>
        <p:nvSpPr>
          <p:cNvPr id="51" name="table-cell">
            <a:extLst xmlns:a="http://schemas.openxmlformats.org/drawingml/2006/main">
              <a:ext uri="{FF2B5EF4-FFF2-40B4-BE49-F238E27FC236}">
                <a16:creationId xmlns:a16="http://schemas.microsoft.com/office/drawing/2014/main" id="{0218E18A-BE0E-40CF-A12E-C1B3AA45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52" name="table-cell">
            <a:extLst xmlns:a="http://schemas.openxmlformats.org/drawingml/2006/main">
              <a:ext uri="{FF2B5EF4-FFF2-40B4-BE49-F238E27FC236}">
                <a16:creationId xmlns:a16="http://schemas.microsoft.com/office/drawing/2014/main" id="{117A3D6C-2696-416A-A523-BAC0DC46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4345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53" name="table-cell">
            <a:extLst xmlns:a="http://schemas.openxmlformats.org/drawingml/2006/main">
              <a:ext uri="{FF2B5EF4-FFF2-40B4-BE49-F238E27FC236}">
                <a16:creationId xmlns:a16="http://schemas.microsoft.com/office/drawing/2014/main" id="{6CA940BD-2353-46BD-8CB0-89B9804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43450"/>
            <a:ext cx="245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54" name="table-cell">
            <a:extLst xmlns:a="http://schemas.openxmlformats.org/drawingml/2006/main">
              <a:ext uri="{FF2B5EF4-FFF2-40B4-BE49-F238E27FC236}">
                <a16:creationId xmlns:a16="http://schemas.microsoft.com/office/drawing/2014/main" id="{A3C7DFD6-471F-4619-B5BB-0A8CF57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43450"/>
            <a:ext cx="2638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E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CF7F8B-54E6-40C7-AD63-506A66AF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Supervision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70FCBE-AF6A-4DA6-BE8B-EA8D1A52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Générale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B21BBF-5233-4AA3-BEC7-EECDD85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339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Opérationnelle</a:t>
            </a:r>
          </a:p>
        </p:txBody>
      </p:sp>
      <p:sp>
        <p:nvSpPr>
          <p:cNvPr id="58" name="pill">
            <a:extLst xmlns:a="http://schemas.openxmlformats.org/drawingml/2006/main">
              <a:ext uri="{FF2B5EF4-FFF2-40B4-BE49-F238E27FC236}">
                <a16:creationId xmlns:a16="http://schemas.microsoft.com/office/drawing/2014/main" id="{60DF074A-5933-4BF7-8876-790F5CE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01CCD9-D17A-4D05-9626-30F8ED58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530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PAR RÔLE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95A3FA-4695-4AB1-9684-2104EE13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Lecture qualitative fondée sur les fonctionnalités requises, sans prétention d'étude exhaustive du marché.</a:t>
            </a:r>
          </a:p>
        </p:txBody>
      </p:sp>
      <p:sp>
        <p:nvSpPr>
          <p:cNvPr id="61" name="rule">
            <a:extLst xmlns:a="http://schemas.openxmlformats.org/drawingml/2006/main">
              <a:ext uri="{FF2B5EF4-FFF2-40B4-BE49-F238E27FC236}">
                <a16:creationId xmlns:a16="http://schemas.microsoft.com/office/drawing/2014/main" id="{721C26E9-20AD-474E-93CE-65688DC0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C56AF7-67AC-481E-BC43-E84E32E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7D7F6E-0AF1-46A1-ACF5-53CC58E8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Comparaison fonctionnelle qualitative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30A94E-835D-477C-86B8-33BB6EBA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02304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1CB6C0-5BCA-4EED-A9AA-CD8AD691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FE9DD3EE-A956-4064-9B00-382A5CD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75B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2C89E-8B8D-4BCC-BA50-ECE70C90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B7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4B7AA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5CF3B60-0E06-41F1-BF05-3F76A753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9CFCF-2198-46C5-AAAD-17C43958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SOLUTION PROPOSÉE -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90CC0-BA16-4054-9774-FB2D008D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Les droits sont contrôlés là où les données changent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EECBFD14-98CD-43B7-B4D5-7F65BD6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8580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579d3ca66413d"/>
          <a:stretch xmlns:a="http://schemas.openxmlformats.org/drawingml/2006/main"/>
        </p:blipFill>
        <p:spPr>
          <a:xfrm xmlns:a="http://schemas.openxmlformats.org/drawingml/2006/main">
            <a:off x="828982" y="1952625"/>
            <a:ext cx="6304935" cy="3257550"/>
          </a:xfrm>
          <a:prstGeom xmlns:a="http://schemas.openxmlformats.org/drawingml/2006/main" prst="rect">
            <a:avLst/>
          </a:prstGeom>
        </p:spPr>
      </p:pic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8F109934-79DB-416C-AEDD-7FF33CAC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15057-8649-4DE1-A2CB-D60D9BF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PILE TECHNIQUE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5CA85-5F72-4281-85BB-A8D6D11D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907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6397E-D103-4AF1-8D6C-51C3798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717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React 19 · Vite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9745C-26D7-4BA7-A0BB-FD01FAD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479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E4D83-3C4C-4243-88E9-97679CBD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289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Express.js 5 ·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78B11-F91A-4C4C-8346-B7688465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051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TEMPS RÉEL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CE594-1CA7-45A3-868C-E76925E5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Socket.IO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8CD3A-EB50-4F59-9D76-926E085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623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DONNÉES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C0237-3641-4DB5-87D2-2CF3447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433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MySQL · repositories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01B95-D743-4BEA-9B55-ED8D3401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95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SÉCURITÉ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49300-2B13-4D6A-8248-D88B0C3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005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JWT · bcrypt · RBAC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B871A-0D10-4B08-A7FA-EB2C733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767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E-MAILS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F7DF3-B015-4465-8B87-009E1F49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577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IMAP · mailparser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DA0F4-47A9-4709-A5AF-93304497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768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Contrôle serveur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FB61A-5B51-4B93-80AD-81C28B4B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292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9E1D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9E1D8"/>
                </a:solidFill>
                <a:latin typeface="Arial"/>
                <a:ea typeface="Arial"/>
                <a:cs typeface="Arial"/>
              </a:rPr>
              <a:t>Les permissions ne reposent pas uniquement sur l'interface.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DEC5D225-1896-4FF2-B2E0-CE8CC23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83299-FF15-455C-A65F-53641701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31DCB-A8BE-4D4C-863E-FA256EB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EB1A5"/>
                </a:solidFill>
                <a:latin typeface="Arial"/>
                <a:ea typeface="Arial"/>
                <a:cs typeface="Arial"/>
              </a:rPr>
              <a:t>Architecture synthétisée depuis l'implémentation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4039C-FC01-47BE-9670-3C49D1A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95435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C0E086-97D2-4591-8DAF-1E5192FE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CC04EC9F-C735-4B5D-B6F7-503E10EA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47A3B-974D-46E2-BF65-67B647CC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3D86C94-5A5B-400F-9068-902FAF1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3C444-8B8A-4E62-892D-47608A6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SOLUTION PROPOSÉE - PARCOURS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78F26-B111-4874-9012-FE208632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858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Du courriel au ticket résolu, le contexte client reste attaché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7BB73AD7-8B7F-4416-9848-9F91836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F717E-BB8A-4F3E-A362-8A55C7B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716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01   RÉCEPTION</a:t>
            </a:r>
          </a:p>
        </p:txBody>
      </p:sp>
      <p:sp>
        <p:nvSpPr>
          <p:cNvPr id="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31A77BDD-32FB-4A93-98E5-7274033D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47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CBFD4D9D-99FF-4AFE-919C-2AC484E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002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3A264-26BC-4123-AE61-27FD3A8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716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02   CRÉATION</a:t>
            </a:r>
          </a:p>
        </p:txBody>
      </p:sp>
      <p:sp>
        <p:nvSpPr>
          <p:cNvPr id="12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A8BB9941-4706-4740-90EF-08C62997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47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5FA367E0-41EF-4DA0-BB2C-A2E13D4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02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847FF-32A9-495F-96FF-AA4E9427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716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03   AFFECTATION</a:t>
            </a:r>
          </a:p>
        </p:txBody>
      </p:sp>
      <p:sp>
        <p:nvSpPr>
          <p:cNvPr id="15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D275A511-761C-4551-B8A8-35D1C4C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47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9C014EEC-5DEC-4B31-B697-DE7966C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002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60F9F-ADF8-41EC-B063-A0FF2AE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716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04   TRAITEMENT</a:t>
            </a:r>
          </a:p>
        </p:txBody>
      </p:sp>
      <p:sp>
        <p:nvSpPr>
          <p:cNvPr id="18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359C5EFD-1DDD-4DF5-A381-740AC54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4AD2E5B3-B825-41EB-B341-AC92E4F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02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51DE8-362B-4D81-B8C9-5B9C8084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7167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05   CLÔTURE</a:t>
            </a:r>
          </a:p>
        </p:txBody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1392EF7D-B5AA-48EE-910D-D00F66DF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53E99-CF95-4F80-A8F6-ACF6BA4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PREUVE 01 · BOÎTE DE RÉCEPTION</a:t>
            </a:r>
          </a:p>
        </p:txBody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B540646A-8F62-4F1D-AEF3-8834A67C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5362A-81A0-4EF7-B593-31B797DE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PREUVE 02 · FORMULAIRE TICKET</a:t>
            </a:r>
          </a:p>
        </p:txBody>
      </p:sp>
      <p:sp>
        <p:nvSpPr>
          <p:cNvPr id="25" name="photo-frame">
            <a:extLst xmlns:a="http://schemas.openxmlformats.org/drawingml/2006/main">
              <a:ext uri="{FF2B5EF4-FFF2-40B4-BE49-F238E27FC236}">
                <a16:creationId xmlns:a16="http://schemas.microsoft.com/office/drawing/2014/main" id="{5FAFE7B9-32A4-47C4-8073-BC8EB199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38475"/>
            <a:ext cx="50292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edcf2ac2c43bc"/>
          <a:srcRect xmlns:a="http://schemas.openxmlformats.org/drawingml/2006/main" l="0" t="6412" r="0" b="6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105150"/>
            <a:ext cx="4895850" cy="2457450"/>
          </a:xfrm>
          <a:prstGeom xmlns:a="http://schemas.openxmlformats.org/drawingml/2006/main" prst="rect">
            <a:avLst/>
          </a:prstGeom>
        </p:spPr>
      </p:pic>
      <p:sp>
        <p:nvSpPr>
          <p:cNvPr id="27" name="photo-frame">
            <a:extLst xmlns:a="http://schemas.openxmlformats.org/drawingml/2006/main">
              <a:ext uri="{FF2B5EF4-FFF2-40B4-BE49-F238E27FC236}">
                <a16:creationId xmlns:a16="http://schemas.microsoft.com/office/drawing/2014/main" id="{16E6EE14-7546-44F6-ACDA-4F6F650C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38475"/>
            <a:ext cx="50292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5e30e23bf4731"/>
          <a:srcRect xmlns:a="http://schemas.openxmlformats.org/drawingml/2006/main" l="0" t="6412" r="0" b="6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3105150"/>
            <a:ext cx="4895850" cy="2457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2880C-03C0-430E-856F-78129582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Les échanges reçus sont rattachables à une organisation et à un contact.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14BA7-9C7D-482F-B2DF-FE49D90F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24525"/>
            <a:ext cx="489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La qualification formalise application, catégorie, SLA et description.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C013AEB6-8DD7-4E91-8A39-EDAFBD7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67C59-F6C8-4E85-888C-FD97217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20F73-48B1-41E0-A151-14C97C0C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Captures du prototype fourni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290797-08A5-4E0E-9BCC-3BA1BED0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5661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76876A-DA21-4749-8F58-D0C70960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769F1EEF-961C-48BC-AD40-7099632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A539-E4D6-49C7-AE80-5D2C4431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AC084B5-6AD3-4045-B924-9A9509C6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83CD5-F469-45FA-AC9B-136FE4DD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RÉSULTATS OBSERVÉS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4938F-D906-41AA-9EC0-0429A2A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7725"/>
            <a:ext cx="10858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2625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Un prototype multi-rôles illustré par un jeu de démonstration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BA03D1D3-6BDD-42CF-8816-96B8EF31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638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A409F-9CCD-49A1-AA97-28608F3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4774E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4774E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CD1BC-3EE3-401E-B6D2-1FD3054C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05025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TICKETS AU TOTAL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2FEB686B-F612-444B-9EB0-6D3CB55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90700"/>
            <a:ext cx="1638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D8FCE-E2E5-4FF0-AC5E-693E1A0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4774E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4774E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7FF85-F9EA-4637-B774-8D978CC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05025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TICKETS RÉSOLUS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F786FB8E-DC0F-46CB-B502-2315306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1638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D42F1-239C-4AF5-9130-D1ECEED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4774E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4774E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0A9FC-521B-4BF4-AABA-8C5B9821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05025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EN ATTENTE D'AFFECTATION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1995A6CE-47A7-44A5-9F9E-7919415E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1638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7825F-7B92-4228-A11C-460204DB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4774E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4774E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4658C-AD9D-400E-847A-26A30B96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05025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CRITIQUES / WARNING</a:t>
            </a:r>
          </a:p>
        </p:txBody>
      </p:sp>
      <p:sp>
        <p:nvSpPr>
          <p:cNvPr id="19" name="photo-frame">
            <a:extLst xmlns:a="http://schemas.openxmlformats.org/drawingml/2006/main">
              <a:ext uri="{FF2B5EF4-FFF2-40B4-BE49-F238E27FC236}">
                <a16:creationId xmlns:a16="http://schemas.microsoft.com/office/drawing/2014/main" id="{FD5A6906-A3F5-4276-8CFD-568D1C71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733425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516cc47184350"/>
          <a:srcRect xmlns:a="http://schemas.openxmlformats.org/drawingml/2006/main" l="0" t="19331" r="0" b="19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276600"/>
            <a:ext cx="7200900" cy="2543175"/>
          </a:xfrm>
          <a:prstGeom xmlns:a="http://schemas.openxmlformats.org/drawingml/2006/main" prst="rect">
            <a:avLst/>
          </a:prstGeom>
        </p:spPr>
      </p:pic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7E553703-C0E9-49EF-A1A3-8155AE3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051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09178-07A5-4A1C-A233-FB9493FF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CE QUE DÉMONTRE L'INTERFACE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5D8FA-C9C4-46B2-AF46-186CBF50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25EBB-6C5B-4159-B18C-D237BCA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0325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Cinq rôles visibles : ADMIN, SD, MANAGER, IT, PKI.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EC924-6487-48CB-9B7D-4E74967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DBE15-C5D5-40CD-BEFB-2975C57E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48025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Affectation des demandes vers IT ou PKI.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C95FA-19E9-41B4-81D1-87164910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243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C58B0-6657-47CC-872E-D97BA50F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95725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Tableaux de bord adaptés au rôle connecté.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F3321-BFB3-41DB-ACE7-3C7B8D15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726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726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B32F7-25FF-4C8E-869E-B67478C9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43425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Accès Manager annoncé comme lecture seule.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495A3-D81D-4EC7-A97E-5A0ED62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67325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Données de démonstration, non statistiques d'exploitation.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8EDD73A2-D1B7-4ED0-ABC5-981757C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FBCE0-1A50-4248-8D49-4E1771C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72796B-0AAE-4D04-993F-FBA1A9B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Source : tableaux de bord du prototype, 23 mai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2E51C6-ADE9-409E-8E16-46A22DA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80319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F18E30C-7F87-4B3A-BDD6-F66EBFEA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D17545A4-1508-4F1E-9A3C-93025A8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75B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EAE92-1CE9-4A74-AD63-B2A06995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B7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4B7AA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BECAD5E-DE36-45A0-9325-8505BCF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7DF20-23A5-4682-86A6-D2164E9D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VALIDATION ET LIMITES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8A430-7940-4EA0-AAFF-C6B290C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76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Les scénarios valident le flux; l'industrialisation reste à consolider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06DB6-6678-4A5A-93F5-A7D35F0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SCÉNARIO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F2B97-ED60-4B13-A1D6-016A751D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3371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OBSERVATION DU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B6B9E-15EC-42DF-BBB8-8DB4E3BC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57400"/>
            <a:ext cx="95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ÉTAT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7A067ED7-83AA-496E-BAB3-AFFE59F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680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2DE73-9CC2-4D83-B3F5-A5241FD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Authentification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D6012-6B1D-4DE9-9F10-E251854E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Accès selon rôle et compte actif</a:t>
            </a:r>
          </a:p>
        </p:txBody>
      </p:sp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350A211B-AB9A-43A3-8F67-580950F9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125B-B544-4D11-920A-342C523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527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1D03FD7F-5DF7-4561-9EB6-A395A99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680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FCF18-2397-4B0B-A93A-B5EFCBBA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Gestion 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17A42-8E46-4BF1-9AF8-CA53A4B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Organisation + contact associés</a:t>
            </a:r>
          </a:p>
        </p:txBody>
      </p:sp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B3484826-A083-4EA2-A1A4-A60D2312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37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1EC00-D6F4-4ACE-9457-3D4416C6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EDF4CAE7-B970-4AF3-8AFD-E98F5951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680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EB08C-C2C7-49E4-928B-F0FBA72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Cycle ticket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CAA02-4026-498E-ABAD-32125530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Création, affectation, statut, commentaire</a:t>
            </a:r>
          </a:p>
        </p:txBody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8E3C6A9A-1706-4990-A266-A46B138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719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0B161-5D9E-4367-9F7C-34527128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8442F0AE-70C6-4B71-BC0E-309522C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680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980EE-23E5-4A82-AAB4-40424D0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FA3C9-6E0E-44CA-A1D6-A04DA9F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48175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Messages et réunions liés au ticket</a:t>
            </a:r>
          </a:p>
        </p:txBody>
      </p:sp>
      <p:sp>
        <p:nvSpPr>
          <p:cNvPr id="28" name="pill">
            <a:extLst xmlns:a="http://schemas.openxmlformats.org/drawingml/2006/main">
              <a:ext uri="{FF2B5EF4-FFF2-40B4-BE49-F238E27FC236}">
                <a16:creationId xmlns:a16="http://schemas.microsoft.com/office/drawing/2014/main" id="{30C1E7C5-AAE4-49E4-B707-EE5FDCE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00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5272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E0092-C40A-4B15-AD70-BB4DE2DA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B89C2861-4C77-4FA6-B500-731A9975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314700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C5048"/>
            </a:solidFill>
            <a:prstDash val="solid"/>
          </a:ln>
        </p:spPr>
      </p:sp>
      <p:sp>
        <p:nvSpPr>
          <p:cNvPr id="31" name="pill">
            <a:extLst xmlns:a="http://schemas.openxmlformats.org/drawingml/2006/main">
              <a:ext uri="{FF2B5EF4-FFF2-40B4-BE49-F238E27FC236}">
                <a16:creationId xmlns:a16="http://schemas.microsoft.com/office/drawing/2014/main" id="{55386916-CDD1-49C9-A03E-EE0EA10B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C9414-59D0-4792-A5A8-D4232CB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LIMITES ACTUELLES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A2637A-1C2C-4AB3-AD4C-FE79AFA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52725"/>
            <a:ext cx="152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F4C96-5800-44BD-BD1D-9AD0A233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Validation essentiellement manuelle.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EF5305-2876-45B1-B99E-C45525B7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152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B10F1F-1396-4415-9525-85C293F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Révocation JWT en mémoire à renforcer.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AA4ADE-038F-434A-BB66-6BB34CB1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152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81DBD8-C29D-4811-A389-E6CBA5CE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Métriques issues d'un jeu de démonstration.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45482A-9364-4765-85AE-74C9B374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152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D2A6FC-0C1B-4721-BD4D-9F932C17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Déploiement et audit de sécurité à conduire.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EA2DEA-BBEC-4DBE-ADE6-A5E46D55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CE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CEC4"/>
                </a:solidFill>
                <a:latin typeface="Arial"/>
                <a:ea typeface="Arial"/>
                <a:cs typeface="Arial"/>
              </a:rPr>
              <a:t>Validation honnête : preuve fonctionnelle, non certification.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E3134759-1C05-4756-9BA1-27D0A16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2DC57E-349A-4E9D-BDF4-B0E1804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EE6796-5CED-4FF4-94A9-F45FFE5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EB1A5"/>
                </a:solidFill>
                <a:latin typeface="Arial"/>
                <a:ea typeface="Arial"/>
                <a:cs typeface="Arial"/>
              </a:rPr>
              <a:t>Tests fonctionnels du prototype et limites documentées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C8052-D313-4FAA-BF29-18CA91A8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77380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EECFD99-162B-45E9-8F1E-DC7B009D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10B7945B-5026-4709-B1F0-B75B4B95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1CBCC-C54E-45B6-B5FE-6C59EA2E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4FDEBF8-C32A-4FA5-A10F-101EB091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7DED5-D631-4ACB-8CB0-91CA950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1E1B"/>
                </a:solidFill>
                <a:latin typeface="Arial"/>
                <a:ea typeface="Arial"/>
                <a:cs typeface="Arial"/>
              </a:rPr>
              <a:t>CONCLUSION ET PERSPECTIVES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42697-336A-43C4-9827-6B8867BB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952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Un socle fonctionnel pour une relation client sécurisée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774CC-DF60-489A-BFE4-0E1EF553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Le prototype unifie tickets, contacts, échanges, réunions et supervision au sein d'un parcours contrôlé par rôles.</a:t>
            </a:r>
          </a:p>
        </p:txBody>
      </p:sp>
      <p:sp>
        <p:nvSpPr>
          <p:cNvPr id="8" name="pill">
            <a:extLst xmlns:a="http://schemas.openxmlformats.org/drawingml/2006/main">
              <a:ext uri="{FF2B5EF4-FFF2-40B4-BE49-F238E27FC236}">
                <a16:creationId xmlns:a16="http://schemas.microsoft.com/office/drawing/2014/main" id="{4190A9F3-FC47-4DB6-8259-B935498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B73E9-0C5B-484C-8265-A9B4FF07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774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4774E"/>
                </a:solidFill>
                <a:latin typeface="Arial"/>
                <a:ea typeface="Arial"/>
                <a:cs typeface="Arial"/>
              </a:rPr>
              <a:t>FEUILLE DE ROUTE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E66302B9-9B23-491A-B198-CDB0124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32575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CAA91-1B98-4F4F-BDA2-5E0300C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COURT TERME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0333E-1D47-4A7E-9A5C-026F9A1F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Tests automatisés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F8CC1-6B9E-49B8-BF9D-9A483010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Sécuriser les régressions des parcours critiques.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D4F4B6C0-3ADA-49D4-A71F-910C4F9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09925"/>
            <a:ext cx="32575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AF2D9-1CBC-47A0-8D2D-7A1829C8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29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MOYEN TERME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1DB02-6D56-4D61-A600-B22DC6D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909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Sessions robustes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FEFEC-411A-4D7C-A1D4-A69AE4A8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434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Révocation persistante et audit des autorisations.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668227AA-3FA1-4585-8AB4-1E35F880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9925"/>
            <a:ext cx="32575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9525">
            <a:solidFill>
              <a:srgbClr val="C9BD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70951-4B55-4CD1-BD2C-4812AA41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ÉVOLUTION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0C550-1117-461E-AC6C-A837079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1E1B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31E1B"/>
                </a:solidFill>
                <a:latin typeface="Georgia"/>
                <a:ea typeface="Georgia"/>
                <a:cs typeface="Georgia"/>
              </a:rPr>
              <a:t>Pilotage métier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DADA4-9C33-4C97-AD7E-24B7785F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E1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1E1B"/>
                </a:solidFill>
                <a:latin typeface="Arial"/>
                <a:ea typeface="Arial"/>
                <a:cs typeface="Arial"/>
              </a:rPr>
              <a:t>Indicateurs historiques et intégration organisationnelle.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CDA9A-3A9E-44EE-A333-57A25233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Apport essentiel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00E33-BAE5-4D37-A0FA-72B2CC4E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14975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4774E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B4774E"/>
                </a:solidFill>
                <a:latin typeface="Georgia"/>
                <a:ea typeface="Georgia"/>
                <a:cs typeface="Georgia"/>
              </a:rPr>
              <a:t>Transformer la demande en preuve de traitement responsable.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FDBD1E0A-EDCE-4ACE-BB25-487D91B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CE38A-BA94-4DFE-8C42-05075D1D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DA17B-3096-4283-8E9B-1560A88C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F665F"/>
                </a:solidFill>
                <a:latin typeface="Arial"/>
                <a:ea typeface="Arial"/>
                <a:cs typeface="Arial"/>
              </a:rPr>
              <a:t>Perspectives proposées à partir des limites constatées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3341A-6700-4140-BE79-F59DAAE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66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77372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2D12AC-E255-4ECC-8055-53D06B2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9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rame">
            <a:extLst xmlns:a="http://schemas.openxmlformats.org/drawingml/2006/main">
              <a:ext uri="{FF2B5EF4-FFF2-40B4-BE49-F238E27FC236}">
                <a16:creationId xmlns:a16="http://schemas.microsoft.com/office/drawing/2014/main" id="{5ECA7E7B-AE42-407F-ADB2-E1765000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50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75B53"/>
            </a:solidFill>
            <a:prstDash val="solid"/>
          </a:ln>
        </p:spPr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84A35279-2074-4746-A250-54F94452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039"/>
          </a:solidFill>
          <a:ln xmlns:a="http://schemas.openxmlformats.org/drawingml/2006/main" w="9525">
            <a:solidFill>
              <a:srgbClr val="B477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39C25-785B-4CF0-9CD8-81A52721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543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8F5F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F5F0"/>
                </a:solidFill>
                <a:latin typeface="Arial"/>
                <a:ea typeface="Arial"/>
                <a:cs typeface="Arial"/>
              </a:rPr>
              <a:t>AGCE CRM · SOUTENANCE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33099-DAF8-438D-ADE6-FC5F1C9B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Merci pour</a:t>
            </a:r>
          </a:p>
          <a:p xmlns:a="http://schemas.openxmlformats.org/drawingml/2006/main">
            <a:pPr algn="l">
              <a:defRPr sz="4950" b="0">
                <a:solidFill>
                  <a:srgbClr val="F8F5F0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8F5F0"/>
                </a:solidFill>
                <a:latin typeface="Georgia"/>
                <a:ea typeface="Georgia"/>
                <a:cs typeface="Georgia"/>
              </a:rPr>
              <a:t>votre attention.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42B8D6D-6199-4A48-955F-0665034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CA3AB-CC48-4F5B-94BB-F825A363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6572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DCD2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E7DCD2"/>
                </a:solidFill>
                <a:latin typeface="Georgia"/>
                <a:ea typeface="Georgia"/>
                <a:cs typeface="Georgia"/>
              </a:rPr>
              <a:t>Nous sommes prêts à répondre à vos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0D78E-0D0E-4A73-86D5-2B34C935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BBEB1"/>
                </a:solidFill>
                <a:latin typeface="Arial"/>
                <a:ea typeface="Arial"/>
                <a:cs typeface="Arial"/>
              </a:rPr>
              <a:t>RÉFÉRENCES CLÉS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8B61E-7FC1-4E17-A5DE-4FFB57D9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DC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7DCD2"/>
                </a:solidFill>
                <a:latin typeface="Arial"/>
                <a:ea typeface="Arial"/>
                <a:cs typeface="Arial"/>
              </a:rPr>
              <a:t>Payne &amp; Frow (2005) · ITIL Foundation (2019) · Sandhu et al. (1996) · Lois algériennes 15-04 et 18-07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18830-1918-4BD2-859A-74831E2F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38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BEB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BEB1"/>
                </a:solidFill>
                <a:latin typeface="Arial"/>
                <a:ea typeface="Arial"/>
                <a:cs typeface="Arial"/>
              </a:rPr>
              <a:t>Laceb Karim  ·  Ouladsmane Issam     |     Licence ISIL  ·  Université Saad Dahleb - Blida 1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B938D32-0912-47BD-8A6C-2FFCADD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05691-316F-4105-9D37-2598BB58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AGCE CRM  |  Licence ISIL - 2025/2026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769EE-D553-47EF-9D3D-FE6058F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67475"/>
            <a:ext cx="647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EB1A5"/>
                </a:solidFill>
                <a:latin typeface="Arial"/>
                <a:ea typeface="Arial"/>
                <a:cs typeface="Arial"/>
              </a:rPr>
              <a:t>Application web sécurisée de gestion de la relation client et des tickets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718D6-F79D-44D6-AA11-B1926FB5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B1A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B1A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03185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2026-05-26T13:42:20.1850000Z</dcterms:created>
  <dcterms:modified xsi:type="dcterms:W3CDTF">2026-05-26T13:42:20.1850000Z</dcterms:modified>
</coreProperties>
</file>